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8" r:id="rId3"/>
    <p:sldId id="257" r:id="rId4"/>
    <p:sldId id="282" r:id="rId5"/>
    <p:sldId id="283" r:id="rId6"/>
    <p:sldId id="284" r:id="rId7"/>
    <p:sldId id="285" r:id="rId8"/>
    <p:sldId id="286" r:id="rId9"/>
    <p:sldId id="28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4T12:59:36.16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0 127 0,'19367'-126'0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8T00:28:08.413"/>
    </inkml:context>
    <inkml:brush xml:id="br0">
      <inkml:brushProperty name="width" value="0.3" units="cm"/>
      <inkml:brushProperty name="height" value="0.6" units="cm"/>
      <inkml:brushProperty name="color" value="#EF0C4D"/>
      <inkml:brushProperty name="tip" value="rectangle"/>
      <inkml:brushProperty name="rasterOp" value="maskPen"/>
      <inkml:brushProperty name="ignorePressure" value="1"/>
    </inkml:brush>
  </inkml:definitions>
  <inkml:trace contextRef="#ctx0" brushRef="#br0">143 127,'0'-1,"0"0,0 1,1-1,-1 0,0 0,1 0,-1 0,1 0,-1 1,1-1,-1 0,1 0,0 1,-1-1,1 0,0 1,0-1,-1 0,1 1,0 0,0-1,0 1,0-1,0 1,-1 0,1-1,0 1,0 0,0 0,0 0,0 0,0 0,0 0,2 0,35 4,130 41,8 2,-150-41,-2 1,44 19,17 6,-50-21,-1 1,-1 2,0 1,-1 2,-1 1,30 23,-47-29,-1 1,-1 1,0 0,-1 1,18 31,-15-24,30 38,-9-21,-3 1,-1 2,-2 1,-2 1,-2 2,-2 0,32 92,-18 32,-32-137,-2 0,0 0,-5 55,1-32,0-46,0 0,-1 1,0-1,-1 0,0 0,0 0,-1 0,-1 0,1-1,-2 0,1 0,-12 14,-10 9,-59 54,51-53,9-7,-111 98,120-111,-1-1,0-1,0 0,-1-1,-1-2,-35 12,-122 38,171-55,1 0,0 0,0 0,0 1,0 0,0 0,0 0,1 0,0 1,0 0,0 0,1 0,-5 9,-5 10,-17 49,5-11,13-41,-1 0,-1-1,0-1,-2 0,0-1,-2-1,1-1,-2 0,-37 23,53-37,0 0,-1 1,1-1,0 1,0-1,0 1,1 0,-1 0,1 1,-1-1,1 0,0 1,0-1,1 1,-1 0,1-1,-1 1,1 0,-1 7,3-7,-1 0,1 0,0-1,0 1,0 0,0 0,1-1,-1 1,1-1,0 0,0 1,0-1,0 0,1 0,0 0,-1-1,1 1,0 0,0-1,6 4,1 0,0-1,0 1,1-1,0-1,0 0,0-1,18 4,86 7,-101-13,390 5,-225-8,-74 2,-156 2,0 3,-56 13,50-7,-76 4,-335-13,229-5,227 4,1-1,0-1,0 0,-1-1,1 0,-13-5,20 6,1-1,-1 1,1-1,-1 0,1 0,0-1,0 1,0 0,0-1,1 0,-1 0,1 0,-1 0,1 0,0 0,0-1,1 1,-1-1,1 1,-1-1,1 0,0-4,-3-21,1-1,1 1,2-1,7-54,0-12,-5-980,-4 545,-2 473,-2-1,-3 1,-21-77,3 17,19 87,7 26,-1 1,1-1,0 0,0 0,0 0,0 0,1 0,1-7,-1 9,1 1,0 0,0 0,0 0,0 0,0 0,1 0,-1 1,1-1,-1 0,1 1,-1-1,1 1,0-1,0 1,0 0,0 0,0 0,0 0,0 0,0 0,0 1,4-2,41-9,1 1,0 3,0 1,1 3,49 3,98-8,-36-6,107-16,-228 23,263-34,-76 18,44-3,506 42,-612-9,5-2,142 8,323 0,-394-15,3734 2,-3735 12,-23 1,-119-12,10-1,108 14,-129-7,128-5,16 0,-132 10,-60-6,60 1,28-8,-104 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8T00:28:10.320"/>
    </inkml:context>
    <inkml:brush xml:id="br0">
      <inkml:brushProperty name="width" value="0.3" units="cm"/>
      <inkml:brushProperty name="height" value="0.6" units="cm"/>
      <inkml:brushProperty name="color" value="#EF0C4D"/>
      <inkml:brushProperty name="tip" value="rectangle"/>
      <inkml:brushProperty name="rasterOp" value="maskPen"/>
      <inkml:brushProperty name="ignorePressure" value="1"/>
    </inkml:brush>
  </inkml:definitions>
  <inkml:trace contextRef="#ctx0" brushRef="#br0">1 189,'24'-9,"0"0,0 2,1 1,27-3,-9 1,53-6,0 4,137 4,30-2,154-31,-274 21,-98 12,0 2,58 3,-59 1,1-1,64-11,-8-4,-80 10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8T00:28:11.738"/>
    </inkml:context>
    <inkml:brush xml:id="br0">
      <inkml:brushProperty name="width" value="0.3" units="cm"/>
      <inkml:brushProperty name="height" value="0.6" units="cm"/>
      <inkml:brushProperty name="color" value="#EF0C4D"/>
      <inkml:brushProperty name="tip" value="rectangle"/>
      <inkml:brushProperty name="rasterOp" value="maskPen"/>
      <inkml:brushProperty name="ignorePressure" value="1"/>
    </inkml:brush>
  </inkml:definitions>
  <inkml:trace contextRef="#ctx0" brushRef="#br0">1 155,'35'-2,"49"-8,15-2,52 7,118-8,-73 2,34-3,-5 7,-60 4,-106-3,107-26,-115 19,0 3,100-6,-1 17,-126-1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8T00:28:13.957"/>
    </inkml:context>
    <inkml:brush xml:id="br0">
      <inkml:brushProperty name="width" value="0.3" units="cm"/>
      <inkml:brushProperty name="height" value="0.6" units="cm"/>
      <inkml:brushProperty name="color" value="#EF0C4D"/>
      <inkml:brushProperty name="tip" value="rectangle"/>
      <inkml:brushProperty name="rasterOp" value="maskPen"/>
      <inkml:brushProperty name="ignorePressure" value="1"/>
    </inkml:brush>
  </inkml:definitions>
  <inkml:trace contextRef="#ctx0" brushRef="#br0">0 26 0,'4089'-26'0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8T00:28:16.302"/>
    </inkml:context>
    <inkml:brush xml:id="br0">
      <inkml:brushProperty name="width" value="0.3" units="cm"/>
      <inkml:brushProperty name="height" value="0.6" units="cm"/>
      <inkml:brushProperty name="color" value="#EF0C4D"/>
      <inkml:brushProperty name="tip" value="rectangle"/>
      <inkml:brushProperty name="rasterOp" value="maskPen"/>
      <inkml:brushProperty name="ignorePressure" value="1"/>
    </inkml:brush>
  </inkml:definitions>
  <inkml:trace contextRef="#ctx0" brushRef="#br0">1 52,'473'-15,"8"8,-57 3,-281-8,65-1,778 14,-784 12,5 0,632-14,-817 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8T00:28:27.601"/>
    </inkml:context>
    <inkml:brush xml:id="br0">
      <inkml:brushProperty name="width" value="0.3" units="cm"/>
      <inkml:brushProperty name="height" value="0.6" units="cm"/>
      <inkml:brushProperty name="color" value="#EF0C4D"/>
      <inkml:brushProperty name="tip" value="rectangle"/>
      <inkml:brushProperty name="rasterOp" value="maskPen"/>
      <inkml:brushProperty name="ignorePressure" value="1"/>
    </inkml:brush>
  </inkml:definitions>
  <inkml:trace contextRef="#ctx0" brushRef="#br0">1 156,'11'-2,"1"0,-1 0,0-1,0 0,0-1,0 0,17-10,30-10,128-18,-58 17,-77 14,0 3,80-3,106 12,-90 1,-82-2,63-1,129 17,-245-14,407 33,392-36,-622 14,13-1,431-12,-611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8T00:28:29.876"/>
    </inkml:context>
    <inkml:brush xml:id="br0">
      <inkml:brushProperty name="width" value="0.3" units="cm"/>
      <inkml:brushProperty name="height" value="0.6" units="cm"/>
      <inkml:brushProperty name="color" value="#EF0C4D"/>
      <inkml:brushProperty name="tip" value="rectangle"/>
      <inkml:brushProperty name="rasterOp" value="maskPen"/>
      <inkml:brushProperty name="ignorePressure" value="1"/>
    </inkml:brush>
  </inkml:definitions>
  <inkml:trace contextRef="#ctx0" brushRef="#br0">0 28,'313'2,"329"-5,-434-9,113-2,3172 15,-3469-1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8T00:28:32.650"/>
    </inkml:context>
    <inkml:brush xml:id="br0">
      <inkml:brushProperty name="width" value="0.3" units="cm"/>
      <inkml:brushProperty name="height" value="0.6" units="cm"/>
      <inkml:brushProperty name="color" value="#EF0C4D"/>
      <inkml:brushProperty name="tip" value="rectangle"/>
      <inkml:brushProperty name="rasterOp" value="maskPen"/>
      <inkml:brushProperty name="ignorePressure" value="1"/>
    </inkml:brush>
  </inkml:definitions>
  <inkml:trace contextRef="#ctx0" brushRef="#br0">0 28,'1097'0,"-943"-13,-7 0,1203 11,-657 5,-651-3,73-1,124 17,-39 0,-26-3,-35-9,-17-2,-53 11,-51-9,0 0,29 1,334-5,-359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8T00:28:46.541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0,'6329'0'0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8T00:28:51.624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29,'402'2,"419"-5,-587-9,91-1,-8 11,320 5,-425 9,151 2,154 17,-355-17,325-7,-278-9,1178 2,-1362 1,0 1,31 8,40 3,-74-12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8T00:28:58.807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0 181,'5'0,"-1"-1,0 0,0 0,0 0,0-1,0 0,6-3,7-2,45-17,1 3,1 3,1 3,0 3,74-5,219 10,40-1,131-23,197 23,-413 11,-175 3,-1 5,196 43,-286-44,244 37,-43-10,-38-3,124 6,-18-3,82-7,-313-18,17 0,-95-12,303 20,-277-15,1-1,-1-3,1 0,58-7,-87 4,-1 1,0-1,0 0,0-1,0 1,0-1,-1 1,1-1,-1 0,1-1,-1 1,0 0,-1-1,1 0,0 1,-1-1,3-8,6-11,15-47,-18 49,-7 19,0 0,-1 0,1 0,0 0,-1-1,1 1,-1 0,0 0,1 0,-1-1,0 1,-1 0,1 0,0 0,-1-1,1 1,-1 0,1 0,-1 0,0 0,0 0,0 0,-2-2,1 2,-1-1,-1 1,1 0,0 0,0 0,-1 0,1 1,-1-1,1 1,-1 0,0 0,0 0,-4 0,-59-6,0 3,0 3,0 3,-90 13,-99 4,-19-21,462 3,-560 34,-198 7,284-28,-262 18,390-27,-26 7,-57 1,-805-14,1010 3,-53 9,53-5,-52 1,-1297-8,1380 1,-1 0,1 1,0-1,-1 1,1 1,0-1,0 1,0 0,0 0,0 1,1 0,-1 0,1 0,0 1,0-1,0 1,0 1,0-1,1 1,0-1,0 1,-5 8,-2 8,1 0,1 0,1 1,-10 41,-6 14,20-68,1 0,1 1,-1-1,1 0,1 1,0-1,0 1,1-1,0 1,2 10,-2-16,1-1,0 1,0 0,1-1,-1 1,1-1,0 0,-1 1,2-1,-1 0,0 0,0 0,1-1,0 1,0 0,-1-1,1 0,1 0,-1 0,0 0,0 0,1 0,-1-1,1 0,0 0,-1 0,8 1,32 3,1-2,0-1,52-6,9 0,-35 3,105-14,-69-1,187-4,-232 21,-10 1,0-2,-1-2,1-3,85-18,-100 15,0 0,1 3,50-2,116 9,-70 1,62-5,202 5,-159 26,-79-7,59 13,-131-19,161 10,-220-25,46 10,-47-6,51 3,836-9,-892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C9FB01-7069-4162-BBF2-3A76A7A9B02A}" type="datetimeFigureOut">
              <a:rPr lang="en-US" smtClean="0"/>
              <a:t>08-Mar-26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443DB7-3C31-49A5-BF79-E92D761C0CD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3039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80900-B8D5-AA22-CBB8-D4A139E01A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0BF170-9592-6687-4D13-CE127948A6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9F3718-2E08-12D9-CB18-56FDD341D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15767-E2A8-435F-94AA-F484D87DE527}" type="datetime1">
              <a:rPr lang="en-US" smtClean="0"/>
              <a:t>08-Mar-26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340A3C-9002-580F-7E9B-3EB0D956F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253F07-0BF6-F85F-B721-3E08EFD74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5FD4C-8972-48D1-A8EF-5CDAC2E76CF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9047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EC8ED-E5E1-B790-BE49-AB5BFD253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F66C0B-D506-5C5D-33A0-C940DF48BD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035144-344F-28C6-0B92-A5508B38B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FD38C-8CFB-445A-A686-9B63A3F2CA43}" type="datetime1">
              <a:rPr lang="en-US" smtClean="0"/>
              <a:t>08-Mar-26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03DAC8-B40A-8392-2229-9DB67CA1C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AEF7C8-9324-5EA4-3991-7A52C4D9C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5FD4C-8972-48D1-A8EF-5CDAC2E76CF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0318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88D5B-DAE6-A241-821E-A31AA1D46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AF150A-9B69-4392-8738-19FD33BCF0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5ECC70-A209-D546-481C-04BF9CA86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6AD0A-BB89-4C91-B4E3-63D7AAB44F48}" type="datetime1">
              <a:rPr lang="en-US" smtClean="0"/>
              <a:t>08-Mar-26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2AC6B-CF96-6FCB-518F-6C78683D3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EF1A7A-CFDE-E184-22C6-7E444D299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5FD4C-8972-48D1-A8EF-5CDAC2E76CF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2467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6C51C-6F96-F489-604D-5022E7A15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B2842-B679-9788-50FA-5254CEBD29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280240-B8A5-C078-279E-AA5F017B6D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929131-8726-A095-F427-700FFD669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C7CFC-50C1-4343-8049-ABDD8B431C95}" type="datetime1">
              <a:rPr lang="en-US" smtClean="0"/>
              <a:t>08-Mar-26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D96578-A3BE-7019-E056-593CF6260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A003A1-4D8E-1EA9-2C77-90DB8A148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5FD4C-8972-48D1-A8EF-5CDAC2E76CF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13128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463E1-53E2-15FF-09C0-23880DF80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4B77E7-5B17-D07E-93D0-63953849DF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F6C3AF-AA44-FD7C-2505-681C62D4C0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5AB0FF-E461-3A08-EC64-F8A04F251A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36B236-E347-3077-9C5C-EB7250C5C7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038E6C-D294-1D8F-00EF-FDA002DA3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ECCE4-D4C3-47A7-87A1-0A619B4003A2}" type="datetime1">
              <a:rPr lang="en-US" smtClean="0"/>
              <a:t>08-Mar-26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1FE1A3-82F4-DC78-E985-2648B7ED5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A4909B-CF75-DDA7-CBFA-5E18B1E69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5FD4C-8972-48D1-A8EF-5CDAC2E76CF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874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E2350-7B6F-15B2-FE7F-43044F222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42BA79-2352-87A5-5B34-562C34DAE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7C337-C463-4391-881C-3114B701F7A9}" type="datetime1">
              <a:rPr lang="en-US" smtClean="0"/>
              <a:t>08-Mar-26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104AB9-3EAC-5FB5-9F64-2655C61D9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952194-237B-7A37-EA2D-E3A078E5F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5FD4C-8972-48D1-A8EF-5CDAC2E76CF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76510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DFACD6-A990-DE3E-0A7C-842EC6E52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B82FC-66DE-46A2-BE2D-1F77ABE9C267}" type="datetime1">
              <a:rPr lang="en-US" smtClean="0"/>
              <a:t>08-Mar-26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614A62-A7DE-996E-F3D3-EED748876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766C69-E800-1F30-D477-6403AB9F7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5FD4C-8972-48D1-A8EF-5CDAC2E76CF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8372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80222-3963-E614-23A3-7B954DB17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571171-9506-0799-A307-33B879F5CF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3FE26B-75F9-17E8-680F-CE6860F892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184966-AB36-5D43-537A-767F27ACD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509FC-DCDB-4647-B1BF-B28F2D672AE3}" type="datetime1">
              <a:rPr lang="en-US" smtClean="0"/>
              <a:t>08-Mar-26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1DC5B9-84A7-3AF4-267D-E6FEC8C4C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FC3370-7570-EA12-1C70-BEE1AFEFB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5FD4C-8972-48D1-A8EF-5CDAC2E76CF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6253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554B1-BD96-8936-3885-9FE5BB322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3E1A73-2922-9EC2-B685-81D8000E2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6A56E6-6090-D2E5-C41F-0B30888F5B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C4D2B6-1E5E-EEC7-841C-5D8037456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A877C-4FFE-41E8-818D-1C7195212741}" type="datetime1">
              <a:rPr lang="en-US" smtClean="0"/>
              <a:t>08-Mar-26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CA3473-DE28-59CA-6F93-EB2EC1050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4E1C0B-BB9D-8618-F73D-A95EBC28E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5FD4C-8972-48D1-A8EF-5CDAC2E76CF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73046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C5ACF-A13D-5D80-4910-3FDC9F627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90EB8F-4094-1C10-8668-0D23C2C581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8DA16A-C406-2FC8-B4A6-6B01AEA38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94FDB-CE6B-4BF1-89A9-8B1CD0614311}" type="datetime1">
              <a:rPr lang="en-US" smtClean="0"/>
              <a:t>08-Mar-26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6E898C-2B56-CC7A-7E9E-96444FA8B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089D57-E36E-3841-3329-248BF51A7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5FD4C-8972-48D1-A8EF-5CDAC2E76CF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157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03FD76-3D1C-0B6D-27B8-AD4530DC77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4998AC-B3FD-6085-76BE-3D3BA3EC4A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6996EE-6BA2-6D9B-838A-99E977919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33FAA-C721-444B-82C9-42E99C4A6628}" type="datetime1">
              <a:rPr lang="en-US" smtClean="0"/>
              <a:t>08-Mar-26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D2311A-4D0A-D7BB-D2AB-2E9026660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D1D5AC-DCC4-8ED1-B37D-A29B095C5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5FD4C-8972-48D1-A8EF-5CDAC2E76CF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09350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61EBCF-2967-5DEA-9DDF-9AFCCC237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9B0A3F-447E-9E26-0F1A-A688494CC6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F6B5C1-E065-BD80-AA2B-1D4A14A0B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CB2037-86BF-44E5-A34A-2F6EC8E8AF02}" type="datetime1">
              <a:rPr lang="en-US" smtClean="0"/>
              <a:t>08-Mar-26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B66765-B575-14F7-4473-B3CDAF1AE0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6D7C55-68B6-EB5D-6A8C-F4F405CFFB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45FD4C-8972-48D1-A8EF-5CDAC2E76CF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8962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8.png"/><Relationship Id="rId18" Type="http://schemas.openxmlformats.org/officeDocument/2006/relationships/customXml" Target="../ink/ink8.xml"/><Relationship Id="rId26" Type="http://schemas.openxmlformats.org/officeDocument/2006/relationships/customXml" Target="../ink/ink12.xml"/><Relationship Id="rId3" Type="http://schemas.openxmlformats.org/officeDocument/2006/relationships/customXml" Target="../ink/ink1.xml"/><Relationship Id="rId21" Type="http://schemas.openxmlformats.org/officeDocument/2006/relationships/image" Target="../media/image12.png"/><Relationship Id="rId7" Type="http://schemas.openxmlformats.org/officeDocument/2006/relationships/image" Target="../media/image5.png"/><Relationship Id="rId12" Type="http://schemas.openxmlformats.org/officeDocument/2006/relationships/customXml" Target="../ink/ink5.xml"/><Relationship Id="rId17" Type="http://schemas.openxmlformats.org/officeDocument/2006/relationships/image" Target="../media/image10.png"/><Relationship Id="rId25" Type="http://schemas.openxmlformats.org/officeDocument/2006/relationships/image" Target="../media/image14.png"/><Relationship Id="rId2" Type="http://schemas.openxmlformats.org/officeDocument/2006/relationships/image" Target="../media/image2.png"/><Relationship Id="rId16" Type="http://schemas.openxmlformats.org/officeDocument/2006/relationships/customXml" Target="../ink/ink7.xml"/><Relationship Id="rId20" Type="http://schemas.openxmlformats.org/officeDocument/2006/relationships/customXml" Target="../ink/ink9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11" Type="http://schemas.openxmlformats.org/officeDocument/2006/relationships/image" Target="../media/image7.png"/><Relationship Id="rId24" Type="http://schemas.openxmlformats.org/officeDocument/2006/relationships/customXml" Target="../ink/ink11.xml"/><Relationship Id="rId5" Type="http://schemas.openxmlformats.org/officeDocument/2006/relationships/image" Target="../media/image4.png"/><Relationship Id="rId15" Type="http://schemas.openxmlformats.org/officeDocument/2006/relationships/image" Target="../media/image9.png"/><Relationship Id="rId23" Type="http://schemas.openxmlformats.org/officeDocument/2006/relationships/image" Target="../media/image13.png"/><Relationship Id="rId10" Type="http://schemas.openxmlformats.org/officeDocument/2006/relationships/customXml" Target="../ink/ink4.xml"/><Relationship Id="rId19" Type="http://schemas.openxmlformats.org/officeDocument/2006/relationships/image" Target="../media/image11.png"/><Relationship Id="rId4" Type="http://schemas.openxmlformats.org/officeDocument/2006/relationships/image" Target="../media/image3.png"/><Relationship Id="rId9" Type="http://schemas.openxmlformats.org/officeDocument/2006/relationships/image" Target="../media/image6.png"/><Relationship Id="rId14" Type="http://schemas.openxmlformats.org/officeDocument/2006/relationships/customXml" Target="../ink/ink6.xml"/><Relationship Id="rId22" Type="http://schemas.openxmlformats.org/officeDocument/2006/relationships/customXml" Target="../ink/ink10.xml"/><Relationship Id="rId27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B55D4-E355-52DA-70E7-9583B71A07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Function Detective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5A1CE5-2035-8C48-5A9F-2017CBB96D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Shahrukh Mohiuddin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E20974-F51F-CCA6-ABB7-1D198B6CD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5FD4C-8972-48D1-A8EF-5CDAC2E76CFC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602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4086C-DDEC-EF16-317E-14A70057C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0747" y="333561"/>
            <a:ext cx="10515600" cy="657430"/>
          </a:xfrm>
        </p:spPr>
        <p:txBody>
          <a:bodyPr>
            <a:normAutofit fontScale="90000"/>
          </a:bodyPr>
          <a:lstStyle/>
          <a:p>
            <a:r>
              <a:rPr lang="en-US" dirty="0"/>
              <a:t>Game Concept</a:t>
            </a:r>
          </a:p>
        </p:txBody>
      </p:sp>
      <p:pic>
        <p:nvPicPr>
          <p:cNvPr id="4" name="Content Placeholder 5">
            <a:extLst>
              <a:ext uri="{FF2B5EF4-FFF2-40B4-BE49-F238E27FC236}">
                <a16:creationId xmlns:a16="http://schemas.microsoft.com/office/drawing/2014/main" id="{7DB170C7-38F3-C657-3D38-85B02E7DE4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60747" y="1022556"/>
            <a:ext cx="9870505" cy="550188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1094AD0-990C-37E8-BC6A-C59F65C83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5FD4C-8972-48D1-A8EF-5CDAC2E76CFC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33391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DBB80-740A-DA12-18A5-ED851CFA5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 design considering the RQ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C3813B-9CA5-C6EE-89A5-0B0915CF18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r>
              <a:rPr lang="en-US" dirty="0"/>
              <a:t>Research question: </a:t>
            </a:r>
          </a:p>
          <a:p>
            <a:r>
              <a:rPr lang="en-US" dirty="0"/>
              <a:t>Is the performance of a LLM model </a:t>
            </a:r>
          </a:p>
          <a:p>
            <a:pPr lvl="1"/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a function of problem hardness</a:t>
            </a:r>
            <a:r>
              <a:rPr lang="en-US" dirty="0"/>
              <a:t> or </a:t>
            </a:r>
          </a:p>
          <a:p>
            <a:pPr lvl="1"/>
            <a:r>
              <a:rPr lang="en-US" dirty="0"/>
              <a:t>do different LLM models 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react differently to the range of problems</a:t>
            </a:r>
            <a:r>
              <a:rPr lang="en-US" dirty="0"/>
              <a:t>.</a:t>
            </a:r>
          </a:p>
          <a:p>
            <a:r>
              <a:rPr lang="en-US" dirty="0"/>
              <a:t>The outcome we want, 2 types of evaluations: </a:t>
            </a:r>
          </a:p>
          <a:p>
            <a:pPr lvl="1"/>
            <a:r>
              <a:rPr lang="en-US" dirty="0"/>
              <a:t>Evaluate performance on </a:t>
            </a:r>
            <a:r>
              <a:rPr lang="en-US" b="1" dirty="0"/>
              <a:t>hardness</a:t>
            </a:r>
          </a:p>
          <a:p>
            <a:pPr lvl="1"/>
            <a:r>
              <a:rPr lang="en-US" dirty="0"/>
              <a:t>Evaluate performance on </a:t>
            </a:r>
            <a:r>
              <a:rPr lang="en-US" b="1" dirty="0"/>
              <a:t>range of problems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FA4202-83FB-3528-E7B8-3A8A57BD9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5FD4C-8972-48D1-A8EF-5CDAC2E76CFC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00571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3A9CE-F63F-F30D-85CC-75661D40F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501AC-0E5B-EDFA-0F90-1BCAA6FD1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>
                <a:highlight>
                  <a:srgbClr val="00FFFF"/>
                </a:highlight>
              </a:rPr>
              <a:t>3</a:t>
            </a:r>
            <a:r>
              <a:rPr lang="en-US" dirty="0"/>
              <a:t>x</a:t>
            </a:r>
            <a:r>
              <a:rPr lang="en-US" dirty="0">
                <a:highlight>
                  <a:srgbClr val="FFFF00"/>
                </a:highlight>
              </a:rPr>
              <a:t>5</a:t>
            </a:r>
            <a:r>
              <a:rPr lang="en-US" dirty="0"/>
              <a:t> Experiment Grid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FFA590-930D-7B42-6DF0-E347440ED3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ighlight>
                  <a:srgbClr val="00FFFF"/>
                </a:highlight>
              </a:rPr>
              <a:t>Difficulty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7ACDA03-9CD0-998E-1F41-88CFE099707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Easy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Medium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Hard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5A02114-BD48-C0F9-6A63-971387BDBE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>
                <a:highlight>
                  <a:srgbClr val="FFFF00"/>
                </a:highlight>
              </a:rPr>
              <a:t>Range (Have several domains)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6ACC0B2-7570-F651-6347-FFF06FF71845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Scalar math (1 input)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Pair math (2 inputs)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List sequence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String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Logic (logic/ true false)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17CEC6-46BF-FA78-E7EF-0AD1EDBBD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5FD4C-8972-48D1-A8EF-5CDAC2E76CFC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48646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5D15FA-9A03-3021-898B-620B0391B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263E7-A8C7-FE58-D24D-D5DDCA76B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this grid reveals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9F1FD1A-B5B3-FC32-4AB6-F88A5D3036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Hardness effect: </a:t>
            </a:r>
          </a:p>
          <a:p>
            <a:pPr lvl="1"/>
            <a:r>
              <a:rPr lang="en-US" dirty="0"/>
              <a:t>Easy, Medium, Hard</a:t>
            </a:r>
          </a:p>
          <a:p>
            <a:pPr lvl="1"/>
            <a:r>
              <a:rPr lang="en-US" dirty="0"/>
              <a:t>If the performance drops across hardness, then that answers, hardness reduces the model's performance</a:t>
            </a:r>
          </a:p>
          <a:p>
            <a:r>
              <a:rPr lang="en-US" dirty="0"/>
              <a:t>Range Effect:</a:t>
            </a:r>
          </a:p>
          <a:p>
            <a:pPr lvl="1"/>
            <a:r>
              <a:rPr lang="en-US" dirty="0"/>
              <a:t>At a fixed difficulty level, compare the results across domains</a:t>
            </a:r>
          </a:p>
          <a:p>
            <a:pPr lvl="1"/>
            <a:r>
              <a:rPr lang="en-US" dirty="0"/>
              <a:t>If the model is much better on some domains than others, we can conclude that "range matters”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E21F54-9428-1FE2-3504-15384566D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5FD4C-8972-48D1-A8EF-5CDAC2E76CFC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47170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4E02F-D12F-5B48-AEC8-C85EC0642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Hint mode addition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7BAD1-ABCF-B472-D441-938C8C4010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772400" cy="4351338"/>
          </a:xfrm>
        </p:spPr>
        <p:txBody>
          <a:bodyPr/>
          <a:lstStyle/>
          <a:p>
            <a:r>
              <a:rPr lang="en-US" dirty="0"/>
              <a:t>A hint mode of the game was introduced where a “hint” is revealed to the model, along with the initial prompt.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94E6CD-4FF6-B2D6-2BC5-0D658AD84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5FD4C-8972-48D1-A8EF-5CDAC2E76CFC}" type="slidenum">
              <a:rPr lang="en-US" smtClean="0"/>
              <a:t>6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0B771F-D193-3C52-984B-B11431BB36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160" y="2987080"/>
            <a:ext cx="7353405" cy="3629620"/>
          </a:xfrm>
          <a:prstGeom prst="rect">
            <a:avLst/>
          </a:prstGeom>
          <a:ln>
            <a:solidFill>
              <a:schemeClr val="accent1"/>
            </a:solidFill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AD6604FA-831D-1026-09C3-15FA3A468333}"/>
                  </a:ext>
                </a:extLst>
              </p14:cNvPr>
              <p14:cNvContentPartPr/>
              <p14:nvPr/>
            </p14:nvContentPartPr>
            <p14:xfrm flipV="1">
              <a:off x="1085745" y="4574745"/>
              <a:ext cx="6972405" cy="45719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AD6604FA-831D-1026-09C3-15FA3A46833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 flipV="1">
                <a:off x="1031746" y="4467107"/>
                <a:ext cx="7080044" cy="261354"/>
              </a:xfrm>
              <a:prstGeom prst="rect">
                <a:avLst/>
              </a:prstGeom>
            </p:spPr>
          </p:pic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E0697A6C-31A0-CE2C-85A2-36501134D9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1525" y="2987080"/>
            <a:ext cx="3464670" cy="3082026"/>
          </a:xfrm>
          <a:prstGeom prst="rect">
            <a:avLst/>
          </a:prstGeom>
          <a:ln>
            <a:solidFill>
              <a:schemeClr val="accent1"/>
            </a:solidFill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EC7DFC1-CF23-BB3C-C80C-2092E47A978F}"/>
                  </a:ext>
                </a:extLst>
              </p14:cNvPr>
              <p14:cNvContentPartPr/>
              <p14:nvPr/>
            </p14:nvContentPartPr>
            <p14:xfrm>
              <a:off x="1027584" y="5147856"/>
              <a:ext cx="3562200" cy="9795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EC7DFC1-CF23-BB3C-C80C-2092E47A978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73584" y="5039856"/>
                <a:ext cx="3669840" cy="119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2E4AD387-D754-23FB-FC68-FF73603BD72B}"/>
                  </a:ext>
                </a:extLst>
              </p14:cNvPr>
              <p14:cNvContentPartPr/>
              <p14:nvPr/>
            </p14:nvContentPartPr>
            <p14:xfrm>
              <a:off x="1032984" y="5345136"/>
              <a:ext cx="703440" cy="684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2E4AD387-D754-23FB-FC68-FF73603BD72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79344" y="5237136"/>
                <a:ext cx="811080" cy="28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D919116B-BE77-FA2B-FB62-EA7A3A9496C7}"/>
                  </a:ext>
                </a:extLst>
              </p14:cNvPr>
              <p14:cNvContentPartPr/>
              <p14:nvPr/>
            </p14:nvContentPartPr>
            <p14:xfrm>
              <a:off x="1078704" y="5549616"/>
              <a:ext cx="758520" cy="558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D919116B-BE77-FA2B-FB62-EA7A3A9496C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025064" y="5441976"/>
                <a:ext cx="866160" cy="27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6E3B9172-B3A6-E7F5-F886-CD82D83B6F42}"/>
                  </a:ext>
                </a:extLst>
              </p14:cNvPr>
              <p14:cNvContentPartPr/>
              <p14:nvPr/>
            </p14:nvContentPartPr>
            <p14:xfrm>
              <a:off x="1069704" y="5751216"/>
              <a:ext cx="1472400" cy="97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6E3B9172-B3A6-E7F5-F886-CD82D83B6F4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015704" y="5643216"/>
                <a:ext cx="1580040" cy="22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2F2A5908-6717-A9FA-DDB3-FD16979A0174}"/>
                  </a:ext>
                </a:extLst>
              </p14:cNvPr>
              <p14:cNvContentPartPr/>
              <p14:nvPr/>
            </p14:nvContentPartPr>
            <p14:xfrm>
              <a:off x="1106064" y="5897376"/>
              <a:ext cx="1434960" cy="1872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2F2A5908-6717-A9FA-DDB3-FD16979A0174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052424" y="5789736"/>
                <a:ext cx="1542600" cy="23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503E5D2B-822F-913F-A13B-DE844943CE78}"/>
                  </a:ext>
                </a:extLst>
              </p14:cNvPr>
              <p14:cNvContentPartPr/>
              <p14:nvPr/>
            </p14:nvContentPartPr>
            <p14:xfrm>
              <a:off x="9216864" y="3683736"/>
              <a:ext cx="1380240" cy="561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503E5D2B-822F-913F-A13B-DE844943CE78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163224" y="3576096"/>
                <a:ext cx="1487880" cy="27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9698F762-7306-C6BB-0112-93B542596523}"/>
                  </a:ext>
                </a:extLst>
              </p14:cNvPr>
              <p14:cNvContentPartPr/>
              <p14:nvPr/>
            </p14:nvContentPartPr>
            <p14:xfrm>
              <a:off x="9280944" y="3876336"/>
              <a:ext cx="1800720" cy="111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9698F762-7306-C6BB-0112-93B542596523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9226944" y="3768696"/>
                <a:ext cx="1908360" cy="22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D32BAE06-00DB-FDE1-8A21-7973AB67AE01}"/>
                  </a:ext>
                </a:extLst>
              </p14:cNvPr>
              <p14:cNvContentPartPr/>
              <p14:nvPr/>
            </p14:nvContentPartPr>
            <p14:xfrm>
              <a:off x="9299304" y="4040856"/>
              <a:ext cx="1809720" cy="288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D32BAE06-00DB-FDE1-8A21-7973AB67AE01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9245304" y="3932856"/>
                <a:ext cx="1917360" cy="24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5507EFA1-3D27-41D4-4F4C-B381CE1C54E4}"/>
                  </a:ext>
                </a:extLst>
              </p14:cNvPr>
              <p14:cNvContentPartPr/>
              <p14:nvPr/>
            </p14:nvContentPartPr>
            <p14:xfrm>
              <a:off x="9198504" y="4507776"/>
              <a:ext cx="2278800" cy="72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5507EFA1-3D27-41D4-4F4C-B381CE1C54E4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9144504" y="4291776"/>
                <a:ext cx="238644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29AF39DF-EA91-9A40-4566-CC5F43C14566}"/>
                  </a:ext>
                </a:extLst>
              </p14:cNvPr>
              <p14:cNvContentPartPr/>
              <p14:nvPr/>
            </p14:nvContentPartPr>
            <p14:xfrm>
              <a:off x="9280944" y="4662216"/>
              <a:ext cx="2266920" cy="3852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29AF39DF-EA91-9A40-4566-CC5F43C14566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9226944" y="4554576"/>
                <a:ext cx="2374560" cy="25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248721E0-0892-8AA6-74B0-AAC3D9379446}"/>
                  </a:ext>
                </a:extLst>
              </p14:cNvPr>
              <p14:cNvContentPartPr/>
              <p14:nvPr/>
            </p14:nvContentPartPr>
            <p14:xfrm>
              <a:off x="9290304" y="4817736"/>
              <a:ext cx="2208600" cy="30384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248721E0-0892-8AA6-74B0-AAC3D9379446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9236304" y="4709736"/>
                <a:ext cx="2316240" cy="519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273527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B9B3E-7EDB-0BC5-AFD7-5D0EE1331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No penalty</a:t>
            </a:r>
            <a:r>
              <a:rPr lang="en-US" dirty="0"/>
              <a:t> mode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2CF209-1E7B-955B-FEA3-8A5BDE27C0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Code is generated on each turn</a:t>
            </a:r>
          </a:p>
          <a:p>
            <a:r>
              <a:rPr lang="en-US" dirty="0"/>
              <a:t>This code: </a:t>
            </a:r>
          </a:p>
          <a:p>
            <a:pPr lvl="1"/>
            <a:r>
              <a:rPr lang="en-US" dirty="0"/>
              <a:t>If </a:t>
            </a:r>
            <a:r>
              <a:rPr lang="en-US" dirty="0">
                <a:highlight>
                  <a:srgbClr val="00FF00"/>
                </a:highlight>
              </a:rPr>
              <a:t>correct</a:t>
            </a:r>
            <a:r>
              <a:rPr lang="en-US" dirty="0"/>
              <a:t> → Game ends with </a:t>
            </a:r>
            <a:r>
              <a:rPr lang="en-US" dirty="0">
                <a:highlight>
                  <a:srgbClr val="00FF00"/>
                </a:highlight>
              </a:rPr>
              <a:t>win</a:t>
            </a:r>
          </a:p>
          <a:p>
            <a:pPr lvl="1"/>
            <a:r>
              <a:rPr lang="en-US" dirty="0"/>
              <a:t>If </a:t>
            </a:r>
            <a:r>
              <a:rPr lang="en-US" dirty="0">
                <a:highlight>
                  <a:srgbClr val="FFFF00"/>
                </a:highlight>
              </a:rPr>
              <a:t>wrong</a:t>
            </a:r>
            <a:r>
              <a:rPr lang="en-US" dirty="0"/>
              <a:t> → Turn gets consumed, </a:t>
            </a:r>
            <a:r>
              <a:rPr lang="en-US" dirty="0">
                <a:highlight>
                  <a:srgbClr val="FFFF00"/>
                </a:highlight>
              </a:rPr>
              <a:t>game keeps going</a:t>
            </a:r>
          </a:p>
          <a:p>
            <a:r>
              <a:rPr lang="en-US" dirty="0"/>
              <a:t>What it aims to measure: </a:t>
            </a:r>
          </a:p>
          <a:p>
            <a:pPr lvl="1"/>
            <a:r>
              <a:rPr lang="en-US" dirty="0"/>
              <a:t>Turns </a:t>
            </a:r>
            <a:r>
              <a:rPr lang="en-US"/>
              <a:t>till solution</a:t>
            </a:r>
            <a:endParaRPr lang="en-US" dirty="0"/>
          </a:p>
          <a:p>
            <a:pPr lvl="1"/>
            <a:r>
              <a:rPr lang="en-US" dirty="0"/>
              <a:t>Whether errors decrease with turns</a:t>
            </a:r>
          </a:p>
          <a:p>
            <a:pPr lvl="1"/>
            <a:r>
              <a:rPr lang="en-US" dirty="0"/>
              <a:t>Do the models use probing or now there is a shift towards brute-guessing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5904FE-0D30-3359-5764-AF6992EE9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5FD4C-8972-48D1-A8EF-5CDAC2E76CFC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94817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26E9B-8F78-A032-9AE7-DCACD592C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Updates and Changes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7A3BE8-419A-0D05-41D9-C2426A497B8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Prompt updated to aim to be more LLM friendly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Main score = Success × Speed</a:t>
                </a:r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𝐒𝐜𝐨𝐫𝐞</m:t>
                    </m:r>
                    <m:r>
                      <a:rPr lang="en-US" b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i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𝐒𝐮𝐜𝐜𝐞𝐬𝐬</m:t>
                    </m:r>
                    <m:r>
                      <a:rPr lang="en-US" b="0" smtClean="0"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en-US" i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𝐒𝐩𝐞𝐞𝐝</m:t>
                    </m:r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</a:t>
                </a:r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𝐒𝐮𝐜𝐜𝐞𝐬𝐬</m:t>
                    </m:r>
                    <m:r>
                      <a:rPr lang="en-US" b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ar-AE" b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i="1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if</m:t>
                              </m:r>
                              <m:r>
                                <m:rPr>
                                  <m:nor/>
                                </m:rPr>
                                <a:rPr lang="en-US" i="1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i="1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all</m:t>
                              </m:r>
                              <m:r>
                                <m:rPr>
                                  <m:nor/>
                                </m:rPr>
                                <a:rPr lang="en-US" i="1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i="1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tests</m:t>
                              </m:r>
                              <m:r>
                                <m:rPr>
                                  <m:nor/>
                                </m:rPr>
                                <a:rPr lang="en-US" i="1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i="1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pass</m:t>
                              </m:r>
                            </m:e>
                          </m:mr>
                          <m:mr>
                            <m:e>
                              <m:r>
                                <a:rPr lang="ar-AE" b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i="1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otherwise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</a:t>
                </a:r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𝐒𝐩𝐞𝐞𝐝</m:t>
                    </m:r>
                    <m:r>
                      <a:rPr lang="en-US" b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i="1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probes</m:t>
                        </m:r>
                        <m:r>
                          <m:rPr>
                            <m:nor/>
                          </m:rPr>
                          <a:rPr lang="en-US" i="1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i="1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used</m:t>
                        </m:r>
                        <m:r>
                          <a:rPr lang="en-US" b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i="1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max</m:t>
                        </m:r>
                        <m:r>
                          <m:rPr>
                            <m:nor/>
                          </m:rPr>
                          <a:rPr lang="en-US" i="1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i="1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probes</m:t>
                        </m:r>
                        <m:r>
                          <a:rPr lang="en-US" b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smtClean="0"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7A3BE8-419A-0D05-41D9-C2426A497B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4BDEE6-4409-F5F3-CE12-B91EF8630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5FD4C-8972-48D1-A8EF-5CDAC2E76CFC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98645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79CF7-59BD-869B-B3D2-803F0B3F0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</a:t>
            </a:r>
            <a:r>
              <a:rPr lang="en-US"/>
              <a:t>and future work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444E06-3875-5FF1-D015-2482ABDAD4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hypotheses, </a:t>
            </a:r>
            <a:r>
              <a:rPr lang="en-US" dirty="0" err="1"/>
              <a:t>candidate_ID</a:t>
            </a:r>
            <a:r>
              <a:rPr lang="en-US" dirty="0"/>
              <a:t> and </a:t>
            </a:r>
            <a:r>
              <a:rPr lang="en-US" dirty="0" err="1"/>
              <a:t>confusers</a:t>
            </a:r>
            <a:r>
              <a:rPr lang="en-US" dirty="0"/>
              <a:t> have been removed to simplify the game, for now.</a:t>
            </a:r>
          </a:p>
          <a:p>
            <a:r>
              <a:rPr lang="en-US" dirty="0"/>
              <a:t>Future work focuses on finalizing a prompt that is:</a:t>
            </a:r>
          </a:p>
          <a:p>
            <a:pPr lvl="1"/>
            <a:r>
              <a:rPr lang="en-US" dirty="0"/>
              <a:t>Even simpler</a:t>
            </a:r>
          </a:p>
          <a:p>
            <a:pPr lvl="1"/>
            <a:r>
              <a:rPr lang="en-US" dirty="0"/>
              <a:t>Short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9D4C99-566E-0DA2-3FFF-A6F462471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5FD4C-8972-48D1-A8EF-5CDAC2E76CFC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7813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4846</TotalTime>
  <Words>319</Words>
  <Application>Microsoft Office PowerPoint</Application>
  <PresentationFormat>Widescreen</PresentationFormat>
  <Paragraphs>62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Cambria Math</vt:lpstr>
      <vt:lpstr>Times New Roman</vt:lpstr>
      <vt:lpstr>Office Theme</vt:lpstr>
      <vt:lpstr>Function Detective</vt:lpstr>
      <vt:lpstr>Game Concept</vt:lpstr>
      <vt:lpstr>Experiment design considering the RQ</vt:lpstr>
      <vt:lpstr>The 3x5 Experiment Grid</vt:lpstr>
      <vt:lpstr>What this grid reveals</vt:lpstr>
      <vt:lpstr>Hint mode addition</vt:lpstr>
      <vt:lpstr>No penalty mode</vt:lpstr>
      <vt:lpstr>Updates and Changes</vt:lpstr>
      <vt:lpstr>Conclusion and future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Shahrukh Mohiuddin</dc:creator>
  <cp:lastModifiedBy>Shahrukh Mohiuddin</cp:lastModifiedBy>
  <cp:revision>64</cp:revision>
  <dcterms:created xsi:type="dcterms:W3CDTF">2026-02-09T15:13:29Z</dcterms:created>
  <dcterms:modified xsi:type="dcterms:W3CDTF">2026-03-08T14:56:54Z</dcterms:modified>
</cp:coreProperties>
</file>