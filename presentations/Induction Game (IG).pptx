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9" r:id="rId6"/>
    <p:sldId id="270" r:id="rId7"/>
    <p:sldId id="258" r:id="rId8"/>
    <p:sldId id="260" r:id="rId9"/>
    <p:sldId id="266" r:id="rId10"/>
    <p:sldId id="268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91CF7D3-8D17-4B51-9D72-4B42C4DCAE5C}">
          <p14:sldIdLst>
            <p14:sldId id="256"/>
            <p14:sldId id="257"/>
            <p14:sldId id="265"/>
            <p14:sldId id="264"/>
            <p14:sldId id="269"/>
            <p14:sldId id="270"/>
            <p14:sldId id="258"/>
            <p14:sldId id="260"/>
            <p14:sldId id="266"/>
            <p14:sldId id="26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523A-2B8B-F359-C9BA-B8F0E4091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8BF6E-5E00-0882-8EA6-0150F61E2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4990-B592-2D3F-36F3-6F31731D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B0FFD-537C-04CA-5AA3-A028F04D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7BAA-5EBF-5BB9-144A-FB3ED410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81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7873-E6D9-2536-E819-2EDEE243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B555E-FC1C-0753-0742-F6A4C6F2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797C7-37D3-0D61-B4F6-57BD59FA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7EF89-33F0-E1C5-F4B6-486FB204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D00C-B557-C426-6D14-97E16765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1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76CF-CEA8-3EEC-41DB-33AB7023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76A9C-D148-C683-AFB6-810050196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AC197-F531-B111-E4B0-DB2CC335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227FB-A140-B449-5BB6-4303DBA6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01514-38C1-A9AD-5EE3-1C0158BBC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2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DB83-1680-A794-555B-6218DBBA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F6455-96CA-AEC6-6810-CB737E8D0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0FBCA-C5FC-E956-D8D8-157818336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41361-44EE-AD54-0EB8-FF1DF542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855FC-2B0A-C8C1-1C4B-C1867154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9C847-4474-AF66-53DB-7DBAD12E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5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0C02-EC55-98C6-4002-1CDCE5B3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CE131-4B9F-0767-8938-C8CF77659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3ACC0-0AE1-B9E0-2912-7ED144564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16515-BFD9-3412-3E6C-2153298E9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09701-2E83-C013-008F-4636CF9C6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B712A-C01C-FE72-5F9F-D8309292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279016-6631-6FE2-3A70-088B0522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3D326-2A51-E862-15CD-5B59B4D5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2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E66A-31BA-8116-DFAF-93EB2B20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E897AC-67FA-D0B8-C188-5D5010178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15788-6577-D8C0-83FF-514D81D9C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E5CE7-FBB4-B687-5536-704C037C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7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E6CCC7-CEBC-D414-49A4-C7213E12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F0264-E14C-BEE3-CB3B-15BCC938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4CD8B-B821-9D29-8165-2B656324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5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980F-1197-C926-10F9-2397E27C7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46843-7AEC-590F-3E8C-E1EE7C39D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E73A7-74A9-25DA-4B1A-ACCFD2F83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C7CDA-54F6-94FE-A2C8-5C0A7A6E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6E7D4-645E-AC9B-2BFD-75A84928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1616E-5360-C0A8-C42C-9E9B8C99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FCE6-5A37-F797-CF6D-046BD15B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FFE88-710D-39D8-DAF3-E0C3EB6C6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FC098-5A0A-2495-1A0E-03EA28516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564E1-B489-0079-0A96-1E507594A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A4144-3B5E-69A1-A268-FEBCFD21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42996-E560-03A7-0AE5-A020CE98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0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87F4-0EFF-8CC2-106A-E98DABDC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77D46-28DC-9A7B-E1DD-4A97E487A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E2F97-3748-26C0-F682-778B852D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3C53E-564A-457E-766A-24343F61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07FA-DA33-4E1A-0E26-CFA038D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21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86E8F-19E5-E9FB-A927-A75D0909F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D65F7-C282-2E62-3CA0-F265E39BA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F7F0-96AE-C152-8E7A-0B85BA0B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2714-2155-1586-AD8B-726C46DE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ECF2-4DE5-C9A7-0B2F-8B01EAD3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7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8F8E5-B728-27A8-ECD5-E0A6A815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9D480-BD3F-1800-F055-C525318BE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D7288-D7EC-9FAB-3D31-A6C79DF09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8AAA9-6C45-417E-ABBB-2761E6026BA0}" type="datetimeFigureOut">
              <a:rPr lang="en-US" smtClean="0"/>
              <a:t>17-Nov-25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BAF27-DE5B-ECB7-F034-C79FC8417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530AB-92D0-969C-A2EA-580658D04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0B804-B2AC-403E-A425-782F2BE32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8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3.23145" TargetMode="External"/><Relationship Id="rId2" Type="http://schemas.openxmlformats.org/officeDocument/2006/relationships/hyperlink" Target="https://arxiv.org/abs/2406.08316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5.01210" TargetMode="External"/><Relationship Id="rId2" Type="http://schemas.openxmlformats.org/officeDocument/2006/relationships/hyperlink" Target="https://arxiv.org/pdf/2503.23145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2407.12504" TargetMode="External"/><Relationship Id="rId4" Type="http://schemas.openxmlformats.org/officeDocument/2006/relationships/hyperlink" Target="https://github.com/choosewhatulike/case2code?tab=readme-ov-file#download-processed-dataset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BB66-F18A-6401-5034-D7F4FBD16E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Induction Game (IG)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447C9-D875-D2E1-CE14-E746D92CB4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Shahrukh Mohiuddin</a:t>
            </a:r>
          </a:p>
        </p:txBody>
      </p:sp>
    </p:spTree>
    <p:extLst>
      <p:ext uri="{BB962C8B-B14F-4D97-AF65-F5344CB8AC3E}">
        <p14:creationId xmlns:p14="http://schemas.microsoft.com/office/powerpoint/2010/main" val="221724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0309-F4C2-2083-1050-94EEE4FA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induction mean in this </a:t>
            </a:r>
            <a:r>
              <a:rPr lang="en-US" b="1" dirty="0"/>
              <a:t>context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1A3A-628E-FE08-930D-F6B6056FE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788" y="1586706"/>
            <a:ext cx="3942736" cy="5090718"/>
          </a:xfrm>
        </p:spPr>
        <p:txBody>
          <a:bodyPr>
            <a:noAutofit/>
          </a:bodyPr>
          <a:lstStyle/>
          <a:p>
            <a:r>
              <a:rPr lang="en-US" sz="2400" dirty="0"/>
              <a:t>The process of </a:t>
            </a:r>
            <a:r>
              <a:rPr lang="en-US" sz="2400" b="1" dirty="0"/>
              <a:t>generating</a:t>
            </a:r>
            <a:r>
              <a:rPr lang="en-US" sz="2400" dirty="0"/>
              <a:t> an abstract idea /  program based on </a:t>
            </a:r>
            <a:r>
              <a:rPr lang="en-US" sz="2400" b="1" dirty="0"/>
              <a:t>some concrete evidence </a:t>
            </a:r>
            <a:r>
              <a:rPr lang="en-US" sz="2400" dirty="0"/>
              <a:t>(I/O pairs).</a:t>
            </a:r>
          </a:p>
          <a:p>
            <a:r>
              <a:rPr lang="en-US" sz="2400" dirty="0"/>
              <a:t>Is there proof that this method works?</a:t>
            </a:r>
          </a:p>
          <a:p>
            <a:r>
              <a:rPr lang="en-US" sz="2400" dirty="0">
                <a:hlinkClick r:id="rId2"/>
              </a:rPr>
              <a:t>Is Programming by Example Solved by LLMs?</a:t>
            </a:r>
            <a:endParaRPr lang="en-US" sz="2400" dirty="0"/>
          </a:p>
          <a:p>
            <a:r>
              <a:rPr lang="en-US" sz="2400" dirty="0" err="1">
                <a:hlinkClick r:id="rId3"/>
              </a:rPr>
              <a:t>CodeARC</a:t>
            </a:r>
            <a:r>
              <a:rPr lang="en-US" sz="2400" dirty="0">
                <a:hlinkClick r:id="rId3"/>
              </a:rPr>
              <a:t>: Benchmarking Reasoning Capabilities of LLM Agents for Inductive Program Synthesis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34738E-33C8-2CE4-1693-DA441F9B1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760" y="1586706"/>
            <a:ext cx="7498750" cy="509071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1246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97E8C2-BE16-4A4F-03FD-E817C61D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of the papers?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1CD477-38C2-06FA-6C69-429565101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0186"/>
          </a:xfrm>
        </p:spPr>
        <p:txBody>
          <a:bodyPr>
            <a:normAutofit/>
          </a:bodyPr>
          <a:lstStyle/>
          <a:p>
            <a:r>
              <a:rPr lang="en-US" dirty="0"/>
              <a:t>Pretrained and Instruction tuned LLM’s are not good at induction / Programming by Examples.</a:t>
            </a:r>
          </a:p>
          <a:p>
            <a:r>
              <a:rPr lang="en-US" dirty="0"/>
              <a:t>Fine tuning improves their performance significantly.</a:t>
            </a:r>
          </a:p>
          <a:p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6E473A9-934B-AB13-CB65-C6EB29568795}"/>
              </a:ext>
            </a:extLst>
          </p:cNvPr>
          <p:cNvSpPr txBox="1">
            <a:spLocks/>
          </p:cNvSpPr>
          <p:nvPr/>
        </p:nvSpPr>
        <p:spPr>
          <a:xfrm>
            <a:off x="838200" y="4770386"/>
            <a:ext cx="10515600" cy="146018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LLM’s can do induction.</a:t>
            </a:r>
          </a:p>
          <a:p>
            <a:r>
              <a:rPr lang="en-US" dirty="0"/>
              <a:t>Planning and making a roadmap.</a:t>
            </a:r>
          </a:p>
          <a:p>
            <a:r>
              <a:rPr lang="en-US" dirty="0"/>
              <a:t>See some relevant material to programming with induction.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912EEC74-B87F-06C7-E2DA-09FE020265F1}"/>
              </a:ext>
            </a:extLst>
          </p:cNvPr>
          <p:cNvSpPr txBox="1">
            <a:spLocks/>
          </p:cNvSpPr>
          <p:nvPr/>
        </p:nvSpPr>
        <p:spPr>
          <a:xfrm>
            <a:off x="838200" y="328581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My interest in reading these papers</a:t>
            </a:r>
          </a:p>
        </p:txBody>
      </p:sp>
    </p:spTree>
    <p:extLst>
      <p:ext uri="{BB962C8B-B14F-4D97-AF65-F5344CB8AC3E}">
        <p14:creationId xmlns:p14="http://schemas.microsoft.com/office/powerpoint/2010/main" val="304472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8374-6CE5-1B4E-0070-E0FFC3BD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8647"/>
            <a:ext cx="10515600" cy="1325563"/>
          </a:xfrm>
        </p:spPr>
        <p:txBody>
          <a:bodyPr/>
          <a:lstStyle/>
          <a:p>
            <a:r>
              <a:rPr lang="en-US" dirty="0"/>
              <a:t>Induction Game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596CE-A50E-4DF0-84CD-F64BE996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5" y="1158505"/>
            <a:ext cx="8878861" cy="54639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5EB9D-2AFF-CA1B-70E7-84A3A7B46FD7}"/>
              </a:ext>
            </a:extLst>
          </p:cNvPr>
          <p:cNvSpPr txBox="1"/>
          <p:nvPr/>
        </p:nvSpPr>
        <p:spPr>
          <a:xfrm>
            <a:off x="9255579" y="1087347"/>
            <a:ext cx="30938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are interested in the </a:t>
            </a:r>
            <a:r>
              <a:rPr lang="en-US" sz="2800" b="1" dirty="0"/>
              <a:t>output</a:t>
            </a:r>
            <a:r>
              <a:rPr lang="en-US" sz="2800" dirty="0"/>
              <a:t> of the function “</a:t>
            </a:r>
            <a:r>
              <a:rPr lang="en-US" sz="2800" i="1" dirty="0"/>
              <a:t>Guessed</a:t>
            </a:r>
            <a:r>
              <a:rPr lang="en-US" sz="2800" dirty="0"/>
              <a:t>” by player 1.</a:t>
            </a:r>
          </a:p>
        </p:txBody>
      </p:sp>
    </p:spTree>
    <p:extLst>
      <p:ext uri="{BB962C8B-B14F-4D97-AF65-F5344CB8AC3E}">
        <p14:creationId xmlns:p14="http://schemas.microsoft.com/office/powerpoint/2010/main" val="115327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D8B6-AE49-9ECC-CAD5-BFF9A8035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b="1" dirty="0"/>
              <a:t>would</a:t>
            </a:r>
            <a:r>
              <a:rPr lang="en-US" dirty="0"/>
              <a:t> be require?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D80A-3CBB-0F98-0257-2B3EC8CBB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060"/>
            <a:ext cx="10953136" cy="1534293"/>
          </a:xfrm>
        </p:spPr>
        <p:txBody>
          <a:bodyPr>
            <a:normAutofit/>
          </a:bodyPr>
          <a:lstStyle/>
          <a:p>
            <a:r>
              <a:rPr lang="en-US" dirty="0"/>
              <a:t>I/O Samples</a:t>
            </a:r>
          </a:p>
          <a:p>
            <a:r>
              <a:rPr lang="en-US" dirty="0"/>
              <a:t>The correct program</a:t>
            </a:r>
          </a:p>
          <a:p>
            <a:r>
              <a:rPr lang="en-US" dirty="0"/>
              <a:t>Test cases to test the player 1’s program</a:t>
            </a:r>
          </a:p>
        </p:txBody>
      </p:sp>
    </p:spTree>
    <p:extLst>
      <p:ext uri="{BB962C8B-B14F-4D97-AF65-F5344CB8AC3E}">
        <p14:creationId xmlns:p14="http://schemas.microsoft.com/office/powerpoint/2010/main" val="23611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3312-715C-81FE-4200-A17D638C7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have seen so far…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9C7BA0-29F0-21B4-E52F-E603B09D6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929041"/>
              </p:ext>
            </p:extLst>
          </p:nvPr>
        </p:nvGraphicFramePr>
        <p:xfrm>
          <a:off x="215572" y="1515561"/>
          <a:ext cx="11760855" cy="5342439"/>
        </p:xfrm>
        <a:graphic>
          <a:graphicData uri="http://schemas.openxmlformats.org/drawingml/2006/table">
            <a:tbl>
              <a:tblPr/>
              <a:tblGrid>
                <a:gridCol w="3920285">
                  <a:extLst>
                    <a:ext uri="{9D8B030D-6E8A-4147-A177-3AD203B41FA5}">
                      <a16:colId xmlns:a16="http://schemas.microsoft.com/office/drawing/2014/main" val="3886545513"/>
                    </a:ext>
                  </a:extLst>
                </a:gridCol>
                <a:gridCol w="3854362">
                  <a:extLst>
                    <a:ext uri="{9D8B030D-6E8A-4147-A177-3AD203B41FA5}">
                      <a16:colId xmlns:a16="http://schemas.microsoft.com/office/drawing/2014/main" val="1140205813"/>
                    </a:ext>
                  </a:extLst>
                </a:gridCol>
                <a:gridCol w="3986208">
                  <a:extLst>
                    <a:ext uri="{9D8B030D-6E8A-4147-A177-3AD203B41FA5}">
                      <a16:colId xmlns:a16="http://schemas.microsoft.com/office/drawing/2014/main" val="550607213"/>
                    </a:ext>
                  </a:extLst>
                </a:gridCol>
              </a:tblGrid>
              <a:tr h="359029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 Name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Focus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Features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716168"/>
                  </a:ext>
                </a:extLst>
              </a:tr>
              <a:tr h="1063482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CodeARC</a:t>
                      </a:r>
                      <a:endParaRPr lang="en-US" sz="1800" b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General-Purpose Python Induction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dataset of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1114 diverse Python functions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with initial I/O examples.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966897"/>
                  </a:ext>
                </a:extLst>
              </a:tr>
              <a:tr h="1252137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DSCodeBench</a:t>
                      </a:r>
                      <a:endParaRPr lang="en-US" sz="1800" b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Science Code Generation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has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Ground Truth Code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and an automatically generated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Test Case Script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for producing tailored input-output examples.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276887"/>
                  </a:ext>
                </a:extLst>
              </a:tr>
              <a:tr h="1252137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Program Synthesis Benchmark Suite (PSB)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Standard Algorithmic Problems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Provides canonical datasets (PSB1 and PSB2) for general programming tasks (e.g.,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fizz-buzz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gcd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 with over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 million labeled cases per problem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761512"/>
                  </a:ext>
                </a:extLst>
              </a:tr>
              <a:tr h="141565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Case2Code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Scalable Synthetic Data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Given a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function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generates a pair of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inputs 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and </a:t>
                      </a:r>
                      <a:r>
                        <a:rPr lang="en-US" sz="1800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outputs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for this function. Good if I want to generate large sets of I/O pairs.</a:t>
                      </a:r>
                    </a:p>
                  </a:txBody>
                  <a:tcPr marL="42383" marR="42383" marT="28255" marB="282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742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28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16A5-9C73-EC8E-732C-5EFFBA6C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32" y="444574"/>
            <a:ext cx="3195376" cy="478937"/>
          </a:xfrm>
        </p:spPr>
        <p:txBody>
          <a:bodyPr>
            <a:normAutofit fontScale="90000"/>
          </a:bodyPr>
          <a:lstStyle/>
          <a:p>
            <a:r>
              <a:rPr lang="en-US" dirty="0"/>
              <a:t>Game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0D8541-A918-53EC-50CC-ACFCAD431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5908" y="120110"/>
            <a:ext cx="8775560" cy="6542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5809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2046-7024-5598-D4AB-BAF6D3210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B1F1-43F4-97E4-9D6B-F7C75DE0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6605"/>
            <a:ext cx="3330758" cy="1908000"/>
          </a:xfrm>
        </p:spPr>
        <p:txBody>
          <a:bodyPr>
            <a:normAutofit/>
          </a:bodyPr>
          <a:lstStyle/>
          <a:p>
            <a:r>
              <a:rPr lang="en-US" dirty="0"/>
              <a:t>Game Diagram cont.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4B0DA4-526C-148E-96DA-349A398E5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0758" y="382826"/>
            <a:ext cx="8742221" cy="609234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46806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EC4E-10C1-2B2B-8C00-4087F702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Timeline: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20736-6523-B607-39E8-C10EB346E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1229" y="236996"/>
            <a:ext cx="9370143" cy="888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“If I had 8 hours to chop down a tree, I would spend 6 sharpening my knife”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3E9118-3196-1618-04CD-418ED7E38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723862"/>
              </p:ext>
            </p:extLst>
          </p:nvPr>
        </p:nvGraphicFramePr>
        <p:xfrm>
          <a:off x="130628" y="1343816"/>
          <a:ext cx="11930744" cy="550687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982686">
                  <a:extLst>
                    <a:ext uri="{9D8B030D-6E8A-4147-A177-3AD203B41FA5}">
                      <a16:colId xmlns:a16="http://schemas.microsoft.com/office/drawing/2014/main" val="801326737"/>
                    </a:ext>
                  </a:extLst>
                </a:gridCol>
                <a:gridCol w="2982686">
                  <a:extLst>
                    <a:ext uri="{9D8B030D-6E8A-4147-A177-3AD203B41FA5}">
                      <a16:colId xmlns:a16="http://schemas.microsoft.com/office/drawing/2014/main" val="2544800617"/>
                    </a:ext>
                  </a:extLst>
                </a:gridCol>
                <a:gridCol w="2982686">
                  <a:extLst>
                    <a:ext uri="{9D8B030D-6E8A-4147-A177-3AD203B41FA5}">
                      <a16:colId xmlns:a16="http://schemas.microsoft.com/office/drawing/2014/main" val="1348225454"/>
                    </a:ext>
                  </a:extLst>
                </a:gridCol>
                <a:gridCol w="2982686">
                  <a:extLst>
                    <a:ext uri="{9D8B030D-6E8A-4147-A177-3AD203B41FA5}">
                      <a16:colId xmlns:a16="http://schemas.microsoft.com/office/drawing/2014/main" val="2910127074"/>
                    </a:ext>
                  </a:extLst>
                </a:gridCol>
              </a:tblGrid>
              <a:tr h="3530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Phase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Estimated Duration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Deliverables Date (DD.MM.YY)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Key Activities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1650251"/>
                  </a:ext>
                </a:extLst>
              </a:tr>
              <a:tr h="115442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Groundwork &amp; Core Logic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1–2 Weeks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02.12.25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Reading papers, additional groundwork, and implementing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basic game logic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 and player interactions.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362838"/>
                  </a:ext>
                </a:extLst>
              </a:tr>
              <a:tr h="1112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Prompt Engineering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 Week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09.12.25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Designing, testing, and refining the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LLM prompt templates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 for the Induction Player.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759274"/>
                  </a:ext>
                </a:extLst>
              </a:tr>
              <a:tr h="11124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Instances &amp; Experiments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 Week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16.12.25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Finalizing game instances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 (function set) and experiment parameters for initial runs.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247241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Evaluation Metrics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1–2 Weeks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30.12.25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Identifying and implementing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evaluation metrics</a:t>
                      </a: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 (e.g., accuracy, queries needed).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305412"/>
                  </a:ext>
                </a:extLst>
              </a:tr>
              <a:tr h="8872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B1C1D"/>
                          </a:solidFill>
                          <a:effectLst/>
                        </a:rPr>
                        <a:t>Final Polishing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</a:rPr>
                        <a:t>2–3 Weeks</a:t>
                      </a:r>
                      <a:endParaRPr lang="en-US" sz="160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20.01.25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solidFill>
                            <a:srgbClr val="1B1C1D"/>
                          </a:solidFill>
                          <a:effectLst/>
                        </a:rPr>
                        <a:t>Polishing and finalizing the </a:t>
                      </a:r>
                      <a:r>
                        <a:rPr lang="en-US" sz="1600" b="1" dirty="0">
                          <a:solidFill>
                            <a:srgbClr val="1B1C1D"/>
                          </a:solidFill>
                          <a:effectLst/>
                        </a:rPr>
                        <a:t>game setup. + Documentation.</a:t>
                      </a:r>
                      <a:endParaRPr lang="en-US" sz="16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58802" marR="58802" marT="39201" marB="3920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546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9732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49CA8-3A5D-E263-435A-5620E950C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EF09-7EAD-5CDE-8BC4-F58BE0D6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CodeARC</a:t>
            </a:r>
            <a:r>
              <a:rPr lang="en-US" dirty="0">
                <a:hlinkClick r:id="rId2"/>
              </a:rPr>
              <a:t>: Benchmarking Reasoning Capabilities of LLM Agents for Inductive Program Synthesis</a:t>
            </a:r>
            <a:endParaRPr lang="en-US" dirty="0"/>
          </a:p>
          <a:p>
            <a:r>
              <a:rPr lang="en-US" dirty="0">
                <a:hlinkClick r:id="rId3"/>
              </a:rPr>
              <a:t>Is Your Code Generated by ChatGPT Really Correct?</a:t>
            </a:r>
            <a:endParaRPr lang="en-US" dirty="0"/>
          </a:p>
          <a:p>
            <a:r>
              <a:rPr lang="en-US" dirty="0">
                <a:hlinkClick r:id="rId4"/>
              </a:rPr>
              <a:t>Case2Code Dataset link</a:t>
            </a:r>
            <a:endParaRPr lang="en-US" dirty="0"/>
          </a:p>
          <a:p>
            <a:r>
              <a:rPr lang="en-US" dirty="0">
                <a:hlinkClick r:id="rId5"/>
              </a:rPr>
              <a:t>Case2Code: Scalable Synthetic Data for Code Generation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3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BBDE-907F-897B-EF51-C117D12B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AB82-AA8C-9392-9802-7B6F9AF21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functions kept as JSON? </a:t>
            </a:r>
          </a:p>
          <a:p>
            <a:r>
              <a:rPr lang="en-US" dirty="0"/>
              <a:t>How many functions should there be?</a:t>
            </a:r>
          </a:p>
          <a:p>
            <a:r>
              <a:rPr lang="en-US" dirty="0"/>
              <a:t>How can this morph into medical stuff?</a:t>
            </a:r>
          </a:p>
        </p:txBody>
      </p:sp>
    </p:spTree>
    <p:extLst>
      <p:ext uri="{BB962C8B-B14F-4D97-AF65-F5344CB8AC3E}">
        <p14:creationId xmlns:p14="http://schemas.microsoft.com/office/powerpoint/2010/main" val="81170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474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Google Sans Text</vt:lpstr>
      <vt:lpstr>Office Theme</vt:lpstr>
      <vt:lpstr>Induction Game (IG)</vt:lpstr>
      <vt:lpstr>What does induction mean in this context?</vt:lpstr>
      <vt:lpstr>Findings of the papers?</vt:lpstr>
      <vt:lpstr>Induction Game Concept</vt:lpstr>
      <vt:lpstr>What would be require?</vt:lpstr>
      <vt:lpstr>What I have seen so far…</vt:lpstr>
      <vt:lpstr>Game Diagram</vt:lpstr>
      <vt:lpstr>Game Diagram cont.</vt:lpstr>
      <vt:lpstr>Timeline:</vt:lpstr>
      <vt:lpstr>Related Work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Shahrukh Mohiuddin</dc:creator>
  <cp:lastModifiedBy>Shahrukh Mohiuddin</cp:lastModifiedBy>
  <cp:revision>23</cp:revision>
  <dcterms:created xsi:type="dcterms:W3CDTF">2025-11-02T17:27:31Z</dcterms:created>
  <dcterms:modified xsi:type="dcterms:W3CDTF">2025-11-18T13:41:25Z</dcterms:modified>
</cp:coreProperties>
</file>